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11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4572000"/>
          </a:xfrm>
          <a:prstGeom prst="ellipse">
            <a:avLst/>
          </a:prstGeom>
          <a:solidFill>
            <a:srgbClr val="6D2E4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91840" y="1874520"/>
            <a:ext cx="3200400" cy="3200400"/>
          </a:xfrm>
          <a:prstGeom prst="ellipse">
            <a:avLst/>
          </a:prstGeom>
          <a:solidFill>
            <a:srgbClr val="A26769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" y="66385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4173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SmartPay AP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2148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Invoice Reconciliation Platform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164592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709160"/>
            <a:ext cx="7315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SmartPay AP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Context &amp; 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Manufacturing — 25 countries, ~1M invoices/month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00600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SmartPay AP  |  Architecture Overview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508760"/>
            <a:ext cx="36576" cy="5303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347472" cy="34747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45" y="1662745"/>
            <a:ext cx="222382" cy="22238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150876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reconciliation causing 5-7 day payment delays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2148840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2920" y="2148840"/>
            <a:ext cx="36576" cy="530352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6" name="Shape 13"/>
          <p:cNvSpPr/>
          <p:nvPr/>
        </p:nvSpPr>
        <p:spPr>
          <a:xfrm>
            <a:off x="685800" y="2240280"/>
            <a:ext cx="347472" cy="347472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45" y="2302825"/>
            <a:ext cx="222382" cy="2223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88720" y="21488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invoices have discrepancies requiring investigation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02920" y="2788920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2920" y="2788920"/>
            <a:ext cx="36576" cy="530352"/>
          </a:xfrm>
          <a:prstGeom prst="rect">
            <a:avLst/>
          </a:prstGeom>
          <a:solidFill>
            <a:srgbClr val="D4883E"/>
          </a:solidFill>
          <a:ln/>
        </p:spPr>
      </p:sp>
      <p:sp>
        <p:nvSpPr>
          <p:cNvPr id="21" name="Shape 17"/>
          <p:cNvSpPr/>
          <p:nvPr/>
        </p:nvSpPr>
        <p:spPr>
          <a:xfrm>
            <a:off x="685800" y="2880360"/>
            <a:ext cx="347472" cy="347472"/>
          </a:xfrm>
          <a:prstGeom prst="ellipse">
            <a:avLst/>
          </a:prstGeom>
          <a:solidFill>
            <a:srgbClr val="D4883E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345" y="2942905"/>
            <a:ext cx="222382" cy="22238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88720" y="27889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into mismatch root causes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89204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OUTCOMES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892040" y="1508760"/>
            <a:ext cx="384048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892040" y="1508760"/>
            <a:ext cx="36576" cy="530352"/>
          </a:xfrm>
          <a:prstGeom prst="rect">
            <a:avLst/>
          </a:prstGeom>
          <a:solidFill>
            <a:srgbClr val="3B8C6E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163677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86400" y="150876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3-way matching (Invoice, PO, GRN)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892040" y="2148840"/>
            <a:ext cx="384048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892040" y="2148840"/>
            <a:ext cx="36576" cy="530352"/>
          </a:xfrm>
          <a:prstGeom prst="rect">
            <a:avLst/>
          </a:prstGeom>
          <a:solidFill>
            <a:srgbClr val="3B8C6E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276856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86400" y="214884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mismatch classification &amp; explanation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892040" y="2788920"/>
            <a:ext cx="384048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892040" y="2788920"/>
            <a:ext cx="36576" cy="530352"/>
          </a:xfrm>
          <a:prstGeom prst="rect">
            <a:avLst/>
          </a:prstGeom>
          <a:solidFill>
            <a:srgbClr val="3B8C6E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916936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486400" y="27889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payment cycle from 7 days to 2 days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502920" y="36118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502920" y="3611880"/>
            <a:ext cx="8229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9" name="Text 31"/>
          <p:cNvSpPr/>
          <p:nvPr/>
        </p:nvSpPr>
        <p:spPr>
          <a:xfrm>
            <a:off x="73152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ROI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73152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600" dirty="0"/>
          </a:p>
        </p:txBody>
      </p:sp>
      <p:sp>
        <p:nvSpPr>
          <p:cNvPr id="41" name="Text 33"/>
          <p:cNvSpPr/>
          <p:nvPr/>
        </p:nvSpPr>
        <p:spPr>
          <a:xfrm>
            <a:off x="210312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AP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costs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5029200" y="3977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7→2</a:t>
            </a:r>
            <a:endParaRPr lang="en-US" sz="3200" dirty="0"/>
          </a:p>
        </p:txBody>
      </p:sp>
      <p:sp>
        <p:nvSpPr>
          <p:cNvPr id="43" name="Text 35"/>
          <p:cNvSpPr/>
          <p:nvPr/>
        </p:nvSpPr>
        <p:spPr>
          <a:xfrm>
            <a:off x="612648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cycle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reduction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High-Level Architecture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platform flow from data sources to payment execution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00600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SmartPay AP  |  Architecture Overview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8229600" cy="36576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252728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335024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234440" y="1490472"/>
            <a:ext cx="452628" cy="237744"/>
          </a:xfrm>
          <a:prstGeom prst="rect">
            <a:avLst/>
          </a:prstGeom>
          <a:solidFill>
            <a:srgbClr val="6D2E46">
              <a:alpha val="1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234440" y="1490472"/>
            <a:ext cx="452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778508" y="1490472"/>
            <a:ext cx="571500" cy="237744"/>
          </a:xfrm>
          <a:prstGeom prst="rect">
            <a:avLst/>
          </a:prstGeom>
          <a:solidFill>
            <a:srgbClr val="6D2E46">
              <a:alpha val="1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778508" y="1490472"/>
            <a:ext cx="5715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441448" y="1490472"/>
            <a:ext cx="452628" cy="237744"/>
          </a:xfrm>
          <a:prstGeom prst="rect">
            <a:avLst/>
          </a:prstGeom>
          <a:solidFill>
            <a:srgbClr val="6D2E46">
              <a:alpha val="1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2441448" y="1490472"/>
            <a:ext cx="452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985516" y="1490472"/>
            <a:ext cx="452628" cy="237744"/>
          </a:xfrm>
          <a:prstGeom prst="rect">
            <a:avLst/>
          </a:prstGeom>
          <a:solidFill>
            <a:srgbClr val="6D2E46">
              <a:alpha val="1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2985516" y="1490472"/>
            <a:ext cx="452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529584" y="1490472"/>
            <a:ext cx="630936" cy="237744"/>
          </a:xfrm>
          <a:prstGeom prst="rect">
            <a:avLst/>
          </a:prstGeom>
          <a:solidFill>
            <a:srgbClr val="6D2E46">
              <a:alpha val="1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529584" y="1490472"/>
            <a:ext cx="630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02920" y="19659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02920" y="1965960"/>
            <a:ext cx="8229600" cy="36576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5" name="Shape 22"/>
          <p:cNvSpPr/>
          <p:nvPr/>
        </p:nvSpPr>
        <p:spPr>
          <a:xfrm>
            <a:off x="640080" y="2075688"/>
            <a:ext cx="457200" cy="45720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157984"/>
            <a:ext cx="292608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23444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1234440" y="2313432"/>
            <a:ext cx="1225296" cy="237744"/>
          </a:xfrm>
          <a:prstGeom prst="rect">
            <a:avLst/>
          </a:prstGeom>
          <a:solidFill>
            <a:srgbClr val="A26769">
              <a:alpha val="15000"/>
            </a:srgbClr>
          </a:solidFill>
          <a:ln/>
        </p:spPr>
      </p:sp>
      <p:sp>
        <p:nvSpPr>
          <p:cNvPr id="29" name="Text 25"/>
          <p:cNvSpPr/>
          <p:nvPr/>
        </p:nvSpPr>
        <p:spPr>
          <a:xfrm>
            <a:off x="1234440" y="2313432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Extract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2551176" y="2313432"/>
            <a:ext cx="1403604" cy="237744"/>
          </a:xfrm>
          <a:prstGeom prst="rect">
            <a:avLst/>
          </a:prstGeom>
          <a:solidFill>
            <a:srgbClr val="A26769">
              <a:alpha val="15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2551176" y="2313432"/>
            <a:ext cx="1403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(S3/ADLS)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4046220" y="2313432"/>
            <a:ext cx="1225296" cy="237744"/>
          </a:xfrm>
          <a:prstGeom prst="rect">
            <a:avLst/>
          </a:prstGeom>
          <a:solidFill>
            <a:srgbClr val="A26769">
              <a:alpha val="15000"/>
            </a:srgbClr>
          </a:solidFill>
          <a:ln/>
        </p:spPr>
      </p:sp>
      <p:sp>
        <p:nvSpPr>
          <p:cNvPr id="33" name="Text 29"/>
          <p:cNvSpPr/>
          <p:nvPr/>
        </p:nvSpPr>
        <p:spPr>
          <a:xfrm>
            <a:off x="4046220" y="2313432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Mgmt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502920" y="27889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02920" y="2788920"/>
            <a:ext cx="822960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6" name="Shape 32"/>
          <p:cNvSpPr/>
          <p:nvPr/>
        </p:nvSpPr>
        <p:spPr>
          <a:xfrm>
            <a:off x="640080" y="2898648"/>
            <a:ext cx="457200" cy="457200"/>
          </a:xfrm>
          <a:prstGeom prst="ellipse">
            <a:avLst/>
          </a:prstGeom>
          <a:solidFill>
            <a:srgbClr val="2B7A78"/>
          </a:solidFill>
          <a:ln/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2980944"/>
            <a:ext cx="292608" cy="29260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23444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LAYER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1234440" y="3136392"/>
            <a:ext cx="1106424" cy="237744"/>
          </a:xfrm>
          <a:prstGeom prst="rect">
            <a:avLst/>
          </a:prstGeom>
          <a:solidFill>
            <a:srgbClr val="2B7A78">
              <a:alpha val="15000"/>
            </a:srgbClr>
          </a:solidFill>
          <a:ln/>
        </p:spPr>
      </p:sp>
      <p:sp>
        <p:nvSpPr>
          <p:cNvPr id="40" name="Text 35"/>
          <p:cNvSpPr/>
          <p:nvPr/>
        </p:nvSpPr>
        <p:spPr>
          <a:xfrm>
            <a:off x="1234440" y="3136392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Model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2432304" y="3136392"/>
            <a:ext cx="1403604" cy="237744"/>
          </a:xfrm>
          <a:prstGeom prst="rect">
            <a:avLst/>
          </a:prstGeom>
          <a:solidFill>
            <a:srgbClr val="2B7A78">
              <a:alpha val="15000"/>
            </a:srgbClr>
          </a:solidFill>
          <a:ln/>
        </p:spPr>
      </p:sp>
      <p:sp>
        <p:nvSpPr>
          <p:cNvPr id="42" name="Text 37"/>
          <p:cNvSpPr/>
          <p:nvPr/>
        </p:nvSpPr>
        <p:spPr>
          <a:xfrm>
            <a:off x="2432304" y="3136392"/>
            <a:ext cx="1403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(RF)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3927348" y="3136392"/>
            <a:ext cx="928116" cy="237744"/>
          </a:xfrm>
          <a:prstGeom prst="rect">
            <a:avLst/>
          </a:prstGeom>
          <a:solidFill>
            <a:srgbClr val="2B7A78">
              <a:alpha val="15000"/>
            </a:srgbClr>
          </a:solidFill>
          <a:ln/>
        </p:spPr>
      </p:sp>
      <p:sp>
        <p:nvSpPr>
          <p:cNvPr id="44" name="Text 39"/>
          <p:cNvSpPr/>
          <p:nvPr/>
        </p:nvSpPr>
        <p:spPr>
          <a:xfrm>
            <a:off x="3927348" y="3136392"/>
            <a:ext cx="9281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Service</a:t>
            </a:r>
            <a:endParaRPr lang="en-US" sz="800" dirty="0"/>
          </a:p>
        </p:txBody>
      </p:sp>
      <p:sp>
        <p:nvSpPr>
          <p:cNvPr id="45" name="Shape 40"/>
          <p:cNvSpPr/>
          <p:nvPr/>
        </p:nvSpPr>
        <p:spPr>
          <a:xfrm>
            <a:off x="502920" y="36118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502920" y="3611880"/>
            <a:ext cx="8229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7" name="Shape 42"/>
          <p:cNvSpPr/>
          <p:nvPr/>
        </p:nvSpPr>
        <p:spPr>
          <a:xfrm>
            <a:off x="640080" y="3721608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3803904"/>
            <a:ext cx="292608" cy="292608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123444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1234440" y="3959352"/>
            <a:ext cx="3186684" cy="237744"/>
          </a:xfrm>
          <a:prstGeom prst="rect">
            <a:avLst/>
          </a:prstGeom>
          <a:solidFill>
            <a:srgbClr val="C9A84C">
              <a:alpha val="15000"/>
            </a:srgbClr>
          </a:solidFill>
          <a:ln/>
        </p:spPr>
      </p:sp>
      <p:sp>
        <p:nvSpPr>
          <p:cNvPr id="51" name="Text 45"/>
          <p:cNvSpPr/>
          <p:nvPr/>
        </p:nvSpPr>
        <p:spPr>
          <a:xfrm>
            <a:off x="1234440" y="3959352"/>
            <a:ext cx="31866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Match → Explain → Email → Approve → Pay</a:t>
            </a:r>
            <a:endParaRPr lang="en-US" sz="800" dirty="0"/>
          </a:p>
        </p:txBody>
      </p:sp>
      <p:sp>
        <p:nvSpPr>
          <p:cNvPr id="52" name="Text 46"/>
          <p:cNvSpPr/>
          <p:nvPr/>
        </p:nvSpPr>
        <p:spPr>
          <a:xfrm>
            <a:off x="4297680" y="18105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53" name="Text 47"/>
          <p:cNvSpPr/>
          <p:nvPr/>
        </p:nvSpPr>
        <p:spPr>
          <a:xfrm>
            <a:off x="4297680" y="26334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54" name="Text 48"/>
          <p:cNvSpPr/>
          <p:nvPr/>
        </p:nvSpPr>
        <p:spPr>
          <a:xfrm>
            <a:off x="4297680" y="3456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ingestion with hybrid cloud data lake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00600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SmartPay AP  |  Architecture Overview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3931920" cy="36576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7" y="1391717"/>
            <a:ext cx="234086" cy="23408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307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Multi-Source Ingestion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173736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PDF invoices → Azure Form Recognizer / AWS Textract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5800" y="196596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Email attachments → Exchange/Gmail API connectors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" y="219456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EDI feeds → AS2/SFTP integration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5800" y="242316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ERP data → SAP RFC / Oracle REST APIs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0" y="114300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1143000"/>
            <a:ext cx="393192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9" name="Shape 16"/>
          <p:cNvSpPr/>
          <p:nvPr/>
        </p:nvSpPr>
        <p:spPr>
          <a:xfrm>
            <a:off x="4892040" y="1325880"/>
            <a:ext cx="365760" cy="365760"/>
          </a:xfrm>
          <a:prstGeom prst="ellipse">
            <a:avLst/>
          </a:prstGeom>
          <a:solidFill>
            <a:srgbClr val="2B7A78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877" y="1391717"/>
            <a:ext cx="234086" cy="23408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94960" y="1307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Lake (Azure + AWS)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937760" y="173736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Raw zone: Unprocessed source files (S3 + ADLS Gen2)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937760" y="196596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Processed zone: Normalized, validated data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937760" y="219456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Curated zone: ML-ready feature datasets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0292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02920" y="2926080"/>
            <a:ext cx="3931920" cy="36576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7" name="Shape 23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7" y="3174797"/>
            <a:ext cx="234086" cy="23408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14300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Processing Pipeline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85800" y="352044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Apache Spark for batch processing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85800" y="374904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Delta Lake for ACID transactions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685800" y="397764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Real-time streaming via Kafka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475488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754880" y="2926080"/>
            <a:ext cx="3931920" cy="36576"/>
          </a:xfrm>
          <a:prstGeom prst="rect">
            <a:avLst/>
          </a:prstGeom>
          <a:solidFill>
            <a:srgbClr val="D4883E"/>
          </a:solidFill>
          <a:ln/>
        </p:spPr>
      </p:sp>
      <p:sp>
        <p:nvSpPr>
          <p:cNvPr id="35" name="Shape 30"/>
          <p:cNvSpPr/>
          <p:nvPr/>
        </p:nvSpPr>
        <p:spPr>
          <a:xfrm>
            <a:off x="4892040" y="3108960"/>
            <a:ext cx="365760" cy="365760"/>
          </a:xfrm>
          <a:prstGeom prst="ellipse">
            <a:avLst/>
          </a:prstGeom>
          <a:solidFill>
            <a:srgbClr val="D4883E"/>
          </a:solidFill>
          <a:ln/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7877" y="3174797"/>
            <a:ext cx="234086" cy="23408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39496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Data Management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4937760" y="352044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Vendor master synchronization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4937760" y="374904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Currency exchange rate feeds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4937760" y="397764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Tax code reference data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ML/AI Layer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extraction, matching, classification &amp; serving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00600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SmartPay AP  |  Architecture Overview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3931920" cy="36576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7" y="1391717"/>
            <a:ext cx="234086" cy="23408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307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Extraction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1737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Azure Form Recognizer custom models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5800" y="1993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AWS Textract for multi-cloud resilience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Custom NER for vendor/product extraction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54880" y="114300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143000"/>
            <a:ext cx="393192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Shape 15"/>
          <p:cNvSpPr/>
          <p:nvPr/>
        </p:nvSpPr>
        <p:spPr>
          <a:xfrm>
            <a:off x="4892040" y="1325880"/>
            <a:ext cx="365760" cy="365760"/>
          </a:xfrm>
          <a:prstGeom prst="ellipse">
            <a:avLst/>
          </a:prstGeom>
          <a:solidFill>
            <a:srgbClr val="2B7A78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877" y="1391717"/>
            <a:ext cx="234086" cy="23408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94960" y="1307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Matching Model (Hybrid)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37760" y="1737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Rule-based: Exact match (vendor + currency ±0.1%)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937760" y="1993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Fuzzy matching: Configurable tolerance (5%)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937760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ML scoring: Confidence-weighted combination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0292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02920" y="2926080"/>
            <a:ext cx="3931920" cy="36576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6" name="Shape 22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7" y="3174797"/>
            <a:ext cx="234086" cy="23408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4300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Model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85800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Algorithm: RandomForest with class balancing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8580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Classes: EXACT_MATCH, PRICE_VAR, QTY_VAR, TAX_MISCODE, MISSING_PO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85800" y="4032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Features: %_diff, abs_diff, days_between, vendor_match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75488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754880" y="2926080"/>
            <a:ext cx="3931920" cy="36576"/>
          </a:xfrm>
          <a:prstGeom prst="rect">
            <a:avLst/>
          </a:prstGeom>
          <a:solidFill>
            <a:srgbClr val="D4883E"/>
          </a:solidFill>
          <a:ln/>
        </p:spPr>
      </p:sp>
      <p:sp>
        <p:nvSpPr>
          <p:cNvPr id="34" name="Shape 29"/>
          <p:cNvSpPr/>
          <p:nvPr/>
        </p:nvSpPr>
        <p:spPr>
          <a:xfrm>
            <a:off x="4892040" y="3108960"/>
            <a:ext cx="365760" cy="365760"/>
          </a:xfrm>
          <a:prstGeom prst="ellipse">
            <a:avLst/>
          </a:prstGeom>
          <a:solidFill>
            <a:srgbClr val="D4883E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7877" y="3174797"/>
            <a:ext cx="234086" cy="23408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39496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Serving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937760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MLflow model registry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93776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Real-time inference via FastAPI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4937760" y="4032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Batch scoring for historical analysis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Gen-AI &amp; Agent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 with LLM integration &amp; guardrails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00600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SmartPay AP  |  Architecture Overview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3931920" cy="36576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7" y="1391717"/>
            <a:ext cx="234086" cy="23408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307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Orchestration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1737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State-based workflow management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5800" y="1993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Conditional routing based on match results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Built-in checkpointing for recovery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54880" y="114300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143000"/>
            <a:ext cx="393192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Shape 15"/>
          <p:cNvSpPr/>
          <p:nvPr/>
        </p:nvSpPr>
        <p:spPr>
          <a:xfrm>
            <a:off x="4892040" y="1325880"/>
            <a:ext cx="365760" cy="365760"/>
          </a:xfrm>
          <a:prstGeom prst="ellipse">
            <a:avLst/>
          </a:prstGeom>
          <a:solidFill>
            <a:srgbClr val="2B7A78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877" y="1391717"/>
            <a:ext cx="234086" cy="23408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94960" y="1307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Integration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37760" y="1737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Azure OpenAI (GPT-4) for explanations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937760" y="1993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AWS Bedrock (Claude) as fallback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937760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Template-based responses for cost optimization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0292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02920" y="2926080"/>
            <a:ext cx="3931920" cy="36576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6" name="Shape 22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7" y="3174797"/>
            <a:ext cx="234086" cy="23408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4300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Workflow Nodes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85800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Extract → Match → Explain → Email → Approve → Pay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8580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Each node: retry logic (max 3 attempts)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85800" y="4032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Comprehensive audit trail at each step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75488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754880" y="2926080"/>
            <a:ext cx="3931920" cy="36576"/>
          </a:xfrm>
          <a:prstGeom prst="rect">
            <a:avLst/>
          </a:prstGeom>
          <a:solidFill>
            <a:srgbClr val="D4883E"/>
          </a:solidFill>
          <a:ln/>
        </p:spPr>
      </p:sp>
      <p:sp>
        <p:nvSpPr>
          <p:cNvPr id="34" name="Shape 29"/>
          <p:cNvSpPr/>
          <p:nvPr/>
        </p:nvSpPr>
        <p:spPr>
          <a:xfrm>
            <a:off x="4892040" y="3108960"/>
            <a:ext cx="365760" cy="365760"/>
          </a:xfrm>
          <a:prstGeom prst="ellipse">
            <a:avLst/>
          </a:prstGeom>
          <a:solidFill>
            <a:srgbClr val="D4883E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7877" y="3174797"/>
            <a:ext cx="234086" cy="23408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39496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&amp; Safety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937760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Input validation at every node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93776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Rate limiting for LLM calls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4937760" y="4032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Human-in-the-loop below confidence threshold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connectors, API gateway &amp; event-driven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00600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SmartPay AP  |  Architecture Overview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3931920" cy="36576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7" y="1391717"/>
            <a:ext cx="234086" cy="23408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307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 Connectors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1737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SAP: RFC/BAPI (real-time), IDoc (batch)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5800" y="1993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Oracle EBS: REST APIs with OAuth2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Workday: SOAP web services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54880" y="114300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143000"/>
            <a:ext cx="393192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Shape 15"/>
          <p:cNvSpPr/>
          <p:nvPr/>
        </p:nvSpPr>
        <p:spPr>
          <a:xfrm>
            <a:off x="4892040" y="1325880"/>
            <a:ext cx="365760" cy="365760"/>
          </a:xfrm>
          <a:prstGeom prst="ellipse">
            <a:avLst/>
          </a:prstGeom>
          <a:solidFill>
            <a:srgbClr val="2B7A78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877" y="1391717"/>
            <a:ext cx="234086" cy="23408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94960" y="1307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37760" y="1737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Kong API Gateway (multi-cloud)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937760" y="1993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Rate limiting, authentication, logging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937760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API versioning &amp; deprecation mgmt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0292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02920" y="2926080"/>
            <a:ext cx="3931920" cy="36576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6" name="Shape 22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7" y="3174797"/>
            <a:ext cx="234086" cy="23408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4300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Event-Driven Architecture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85800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Apache Kafka for event streaming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8580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AWS EventBridge for serverless triggers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85800" y="4032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Dead letter queues for failed events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75488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754880" y="2926080"/>
            <a:ext cx="3931920" cy="36576"/>
          </a:xfrm>
          <a:prstGeom prst="rect">
            <a:avLst/>
          </a:prstGeom>
          <a:solidFill>
            <a:srgbClr val="D4883E"/>
          </a:solidFill>
          <a:ln/>
        </p:spPr>
      </p:sp>
      <p:sp>
        <p:nvSpPr>
          <p:cNvPr id="34" name="Shape 29"/>
          <p:cNvSpPr/>
          <p:nvPr/>
        </p:nvSpPr>
        <p:spPr>
          <a:xfrm>
            <a:off x="4892040" y="3108960"/>
            <a:ext cx="365760" cy="365760"/>
          </a:xfrm>
          <a:prstGeom prst="ellipse">
            <a:avLst/>
          </a:prstGeom>
          <a:solidFill>
            <a:srgbClr val="D4883E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7877" y="3174797"/>
            <a:ext cx="234086" cy="23408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39496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Webhook Handlers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937760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Vendor portal integrations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93776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Email service (SendGrid/SES)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4937760" y="4032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Slack/Teams notifications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Multi-Cloud Deployment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+ AWS hybrid with unified Kubernetes orchestration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00600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SmartPay AP  |  Architecture Overview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3931920" cy="36576"/>
          </a:xfrm>
          <a:prstGeom prst="rect">
            <a:avLst/>
          </a:prstGeom>
          <a:solidFill>
            <a:srgbClr val="3B599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rgbClr val="3B5998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7" y="1391717"/>
            <a:ext cx="234086" cy="23408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307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Components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1737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AKS for container orchestration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5800" y="1993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Azure Data Lake Storage Gen2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Azure Form Recognizer, Azure OpenAI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54880" y="114300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143000"/>
            <a:ext cx="3931920" cy="36576"/>
          </a:xfrm>
          <a:prstGeom prst="rect">
            <a:avLst/>
          </a:prstGeom>
          <a:solidFill>
            <a:srgbClr val="D4883E"/>
          </a:solidFill>
          <a:ln/>
        </p:spPr>
      </p:sp>
      <p:sp>
        <p:nvSpPr>
          <p:cNvPr id="18" name="Shape 15"/>
          <p:cNvSpPr/>
          <p:nvPr/>
        </p:nvSpPr>
        <p:spPr>
          <a:xfrm>
            <a:off x="4892040" y="1325880"/>
            <a:ext cx="365760" cy="365760"/>
          </a:xfrm>
          <a:prstGeom prst="ellipse">
            <a:avLst/>
          </a:prstGeom>
          <a:solidFill>
            <a:srgbClr val="D4883E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877" y="1391717"/>
            <a:ext cx="234086" cy="23408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94960" y="1307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Components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37760" y="1737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EKS for container orchestration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937760" y="1993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S3 for object storage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937760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Textract, Bedrock, SageMaker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0292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02920" y="2926080"/>
            <a:ext cx="393192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6" name="Shape 22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2B7A78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7" y="3174797"/>
            <a:ext cx="234086" cy="23408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4300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Kubernetes Orchestration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85800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Istio service mesh for traffic mgmt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8580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Cross-cluster service discovery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85800" y="4032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Unified ingress via Traefik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75488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754880" y="2926080"/>
            <a:ext cx="3931920" cy="36576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4" name="Shape 29"/>
          <p:cNvSpPr/>
          <p:nvPr/>
        </p:nvSpPr>
        <p:spPr>
          <a:xfrm>
            <a:off x="4892040" y="3108960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877" y="3174797"/>
            <a:ext cx="234086" cy="23408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39496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MLOps Layer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937760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MLflow for experiment tracking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93776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Kubeflow Pipelines for training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4937760" y="4032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Seldon Core for model serving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Compliance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compliance, encryption, access control &amp; audit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00600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SmartPay AP  |  Architecture Overview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3931920" cy="36576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7" y="1391717"/>
            <a:ext cx="234086" cy="23408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307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GDPR Compliance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1737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Data minimization — only essential fields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5800" y="1993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Right to erasure — automated deletion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Data residency — regional deployment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54880" y="114300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143000"/>
            <a:ext cx="393192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Shape 15"/>
          <p:cNvSpPr/>
          <p:nvPr/>
        </p:nvSpPr>
        <p:spPr>
          <a:xfrm>
            <a:off x="4892040" y="1325880"/>
            <a:ext cx="365760" cy="365760"/>
          </a:xfrm>
          <a:prstGeom prst="ellipse">
            <a:avLst/>
          </a:prstGeom>
          <a:solidFill>
            <a:srgbClr val="2B7A78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877" y="1391717"/>
            <a:ext cx="234086" cy="23408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94960" y="1307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Encryption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37760" y="1737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At rest: AES-256 (Azure/AWS KMS)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937760" y="1993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 transit: TLS 1.3 for all APIs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937760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Field-level encryption for PII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0292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02920" y="2926080"/>
            <a:ext cx="3931920" cy="36576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6" name="Shape 22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7" y="3174797"/>
            <a:ext cx="234086" cy="23408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4300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85800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RBAC with Azure AD / AWS IAM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8580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OAuth2 + OIDC for API auth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85800" y="4032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Service mesh mTLS between services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75488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754880" y="2926080"/>
            <a:ext cx="3931920" cy="36576"/>
          </a:xfrm>
          <a:prstGeom prst="rect">
            <a:avLst/>
          </a:prstGeom>
          <a:solidFill>
            <a:srgbClr val="D4883E"/>
          </a:solidFill>
          <a:ln/>
        </p:spPr>
      </p:sp>
      <p:sp>
        <p:nvSpPr>
          <p:cNvPr id="34" name="Shape 29"/>
          <p:cNvSpPr/>
          <p:nvPr/>
        </p:nvSpPr>
        <p:spPr>
          <a:xfrm>
            <a:off x="4892040" y="3108960"/>
            <a:ext cx="365760" cy="365760"/>
          </a:xfrm>
          <a:prstGeom prst="ellipse">
            <a:avLst/>
          </a:prstGeom>
          <a:solidFill>
            <a:srgbClr val="D4883E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7877" y="3174797"/>
            <a:ext cx="234086" cy="23408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39496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&amp; Monitoring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937760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CloudTrail / Azure Monitor logging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93776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SIEM integration for security events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4937760" y="4032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Automated compliance reporting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MLOps &amp; Monitoring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model lifecycle, observability &amp; alerting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00600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SmartPay AP  |  Architecture Overview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3931920" cy="36576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7" y="1391717"/>
            <a:ext cx="234086" cy="23408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307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Pipelines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1737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GitHub Actions for code CI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5800" y="1993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ArgoCD for GitOps deployments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Automated testing (unit, integration, model)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54880" y="114300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143000"/>
            <a:ext cx="393192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Shape 15"/>
          <p:cNvSpPr/>
          <p:nvPr/>
        </p:nvSpPr>
        <p:spPr>
          <a:xfrm>
            <a:off x="4892040" y="1325880"/>
            <a:ext cx="365760" cy="365760"/>
          </a:xfrm>
          <a:prstGeom prst="ellipse">
            <a:avLst/>
          </a:prstGeom>
          <a:solidFill>
            <a:srgbClr val="2B7A78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877" y="1391717"/>
            <a:ext cx="234086" cy="23408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94960" y="1307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Lifecycle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37760" y="1737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A/B testing for model versions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937760" y="1993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Shadow mode for new models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937760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Auto rollback on degradation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0292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02920" y="2926080"/>
            <a:ext cx="3931920" cy="36576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6" name="Shape 22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7" y="3174797"/>
            <a:ext cx="234086" cy="23408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4300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Stack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85800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Prometheus for metrics collection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8580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Grafana dashboards for visualization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85800" y="4032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Model drift detection (Evidently AI)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75488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754880" y="2926080"/>
            <a:ext cx="3931920" cy="36576"/>
          </a:xfrm>
          <a:prstGeom prst="rect">
            <a:avLst/>
          </a:prstGeom>
          <a:solidFill>
            <a:srgbClr val="D4883E"/>
          </a:solidFill>
          <a:ln/>
        </p:spPr>
      </p:sp>
      <p:sp>
        <p:nvSpPr>
          <p:cNvPr id="34" name="Shape 29"/>
          <p:cNvSpPr/>
          <p:nvPr/>
        </p:nvSpPr>
        <p:spPr>
          <a:xfrm>
            <a:off x="4892040" y="3108960"/>
            <a:ext cx="365760" cy="365760"/>
          </a:xfrm>
          <a:prstGeom prst="ellipse">
            <a:avLst/>
          </a:prstGeom>
          <a:solidFill>
            <a:srgbClr val="D4883E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7877" y="3174797"/>
            <a:ext cx="234086" cy="23408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39496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Alerting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937760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PagerDuty for on-call escalation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93776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Slack integration for notifications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4937760" y="4032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SLA-based alert routing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Estimation &amp; Optimization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cloud costs for 1M invoices/month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00600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SmartPay AP  |  Architecture Overview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CLOUD COSTS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(AKS/EKS)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463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$8,000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691640"/>
            <a:ext cx="3246120" cy="109728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691640"/>
            <a:ext cx="1428293" cy="10972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65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 Services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1965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194560"/>
            <a:ext cx="3246120" cy="109728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194560"/>
            <a:ext cx="908914" cy="10972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468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34640" y="2468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697480"/>
            <a:ext cx="3246120" cy="109728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697480"/>
            <a:ext cx="551840" cy="10972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971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(S3/ADLS)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2971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200400"/>
            <a:ext cx="3246120" cy="109728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3200400"/>
            <a:ext cx="357073" cy="10972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3566160"/>
            <a:ext cx="3246120" cy="36576"/>
          </a:xfrm>
          <a:prstGeom prst="rect">
            <a:avLst/>
          </a:prstGeom>
          <a:solidFill>
            <a:srgbClr val="2A1F2D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3657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$18,000/mo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11430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143000"/>
            <a:ext cx="393192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12344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INVOICE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$0.018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40080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8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$0.012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937760" y="1920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                   target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2423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423160"/>
            <a:ext cx="3931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2514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3776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~$4.5M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667512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~$5/invoice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Automated: ~$0.50/invoice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3703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STRATEGIES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9502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Spot/preemptible instances for batch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4880" y="41330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Reserved capacity for predictable loads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431596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Tiered storage for historical data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54880" y="44988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LLM call caching and batching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&amp;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from MVP to enterprise scale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00600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SmartPay AP  |  Architecture Overview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2606040" cy="36576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Shape 8"/>
          <p:cNvSpPr/>
          <p:nvPr/>
        </p:nvSpPr>
        <p:spPr>
          <a:xfrm>
            <a:off x="1577340" y="132588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636" y="1408176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(Current POC)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23317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Core matching model with RF classification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5800" y="26517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LangGraph workflow with human-in-loop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" y="29718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Basic evaluation and reporting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91840" y="114300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91840" y="1143000"/>
            <a:ext cx="260604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Shape 15"/>
          <p:cNvSpPr/>
          <p:nvPr/>
        </p:nvSpPr>
        <p:spPr>
          <a:xfrm>
            <a:off x="4366260" y="1325880"/>
            <a:ext cx="457200" cy="457200"/>
          </a:xfrm>
          <a:prstGeom prst="ellipse">
            <a:avLst/>
          </a:prstGeom>
          <a:solidFill>
            <a:srgbClr val="2B7A78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556" y="1408176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2900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(Q2)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474720" y="23317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Document extraction pipeline integration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474720" y="26517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SAP/Oracle connector implementation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474720" y="29718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Production deployment on AKS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080760" y="114300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080760" y="1143000"/>
            <a:ext cx="2606040" cy="36576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6" name="Shape 22"/>
          <p:cNvSpPr/>
          <p:nvPr/>
        </p:nvSpPr>
        <p:spPr>
          <a:xfrm>
            <a:off x="7155180" y="1325880"/>
            <a:ext cx="457200" cy="45720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7476" y="1408176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1792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(Q3-Q4)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263640" y="23317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Multi-region deployment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263640" y="26517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Advanced anomaly detection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263640" y="29718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Vendor self-service portal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3017520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28"/>
          <p:cNvSpPr/>
          <p:nvPr/>
        </p:nvSpPr>
        <p:spPr>
          <a:xfrm>
            <a:off x="5806440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02920" y="37947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502920" y="3794760"/>
            <a:ext cx="8229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6" name="Text 31"/>
          <p:cNvSpPr/>
          <p:nvPr/>
        </p:nvSpPr>
        <p:spPr>
          <a:xfrm>
            <a:off x="731520" y="3886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CONSIDERATIONS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731520" y="41330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to 10M invoices/month  ·  Multi-tenant architecture  ·  Real-time processing capabilities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6D2E4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Tradeoffs: Why LangGraph?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trade-offs for agentic invoice reconciliation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651760" cy="32918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2651760" cy="36576"/>
          </a:xfrm>
          <a:prstGeom prst="rect">
            <a:avLst/>
          </a:prstGeom>
          <a:solidFill>
            <a:srgbClr val="3B8C6E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71600"/>
            <a:ext cx="347472" cy="347472"/>
          </a:xfrm>
          <a:prstGeom prst="ellipse">
            <a:avLst/>
          </a:prstGeom>
          <a:solidFill>
            <a:srgbClr val="3B8C6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45" y="1434145"/>
            <a:ext cx="222382" cy="2223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3716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368296" y="1417320"/>
            <a:ext cx="740664" cy="228600"/>
          </a:xfrm>
          <a:prstGeom prst="rect">
            <a:avLst/>
          </a:prstGeom>
          <a:solidFill>
            <a:srgbClr val="3B8C6E">
              <a:alpha val="8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2368296" y="14173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3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58368" y="1828800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3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658368" y="20116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Graph-based state machine — ideal for multi-step invoice workflows with conditional branching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58368" y="232257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Built-in checkpointing &amp; recovery — critical for financial transaction reliability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58368" y="263347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Human-in-the-loop natively supported at any node (approval gates)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58368" y="29443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Fine-grained control over Extract → Match → Explain → Email → Pay flow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58368" y="325526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LangSmith integration for production observability &amp; debugging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58368" y="3621024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58368" y="3803904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Steeper learning curve vs CrewAI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58368" y="402336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Tighter coupling to LangChain ecosystem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337560" y="1234440"/>
            <a:ext cx="2651760" cy="32918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337560" y="1234440"/>
            <a:ext cx="2651760" cy="36576"/>
          </a:xfrm>
          <a:prstGeom prst="rect">
            <a:avLst/>
          </a:prstGeom>
          <a:solidFill>
            <a:srgbClr val="D4883E"/>
          </a:solidFill>
          <a:ln/>
        </p:spPr>
      </p:sp>
      <p:sp>
        <p:nvSpPr>
          <p:cNvPr id="24" name="Shape 21"/>
          <p:cNvSpPr/>
          <p:nvPr/>
        </p:nvSpPr>
        <p:spPr>
          <a:xfrm>
            <a:off x="3474720" y="1371600"/>
            <a:ext cx="347472" cy="347472"/>
          </a:xfrm>
          <a:prstGeom prst="ellipse">
            <a:avLst/>
          </a:prstGeom>
          <a:solidFill>
            <a:srgbClr val="7A6B7D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7265" y="1434145"/>
            <a:ext cx="222382" cy="22238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886200" y="13716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AutoGen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5029200" y="1417320"/>
            <a:ext cx="868680" cy="228600"/>
          </a:xfrm>
          <a:prstGeom prst="rect">
            <a:avLst/>
          </a:prstGeom>
          <a:solidFill>
            <a:srgbClr val="D4883E">
              <a:alpha val="80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0" y="14173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D4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3447288" y="1828800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3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3447288" y="20116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Enterprise-grade (Microsoft backed)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3447288" y="223113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Strong conversational patterns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3447288" y="245059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Good for open-ended research tasks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3447288" y="272491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700" dirty="0"/>
          </a:p>
        </p:txBody>
      </p:sp>
      <p:sp>
        <p:nvSpPr>
          <p:cNvPr id="34" name="Text 30"/>
          <p:cNvSpPr/>
          <p:nvPr/>
        </p:nvSpPr>
        <p:spPr>
          <a:xfrm>
            <a:off x="3447288" y="290779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Conversation-based — agents can loop endlessly without strict flow control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3447288" y="321868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Non-deterministic outputs harder to validate for financial compliance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3447288" y="352958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No native graph-based checkpointing; recovery requires manual state mgmt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6126480" y="1234440"/>
            <a:ext cx="2651760" cy="32918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6126480" y="1234440"/>
            <a:ext cx="2651760" cy="36576"/>
          </a:xfrm>
          <a:prstGeom prst="rect">
            <a:avLst/>
          </a:prstGeom>
          <a:solidFill>
            <a:srgbClr val="D4883E"/>
          </a:solidFill>
          <a:ln/>
        </p:spPr>
      </p:sp>
      <p:sp>
        <p:nvSpPr>
          <p:cNvPr id="39" name="Shape 35"/>
          <p:cNvSpPr/>
          <p:nvPr/>
        </p:nvSpPr>
        <p:spPr>
          <a:xfrm>
            <a:off x="6263640" y="1371600"/>
            <a:ext cx="347472" cy="347472"/>
          </a:xfrm>
          <a:prstGeom prst="ellipse">
            <a:avLst/>
          </a:prstGeom>
          <a:solidFill>
            <a:srgbClr val="7A6B7D"/>
          </a:solidFill>
          <a:ln/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185" y="1434145"/>
            <a:ext cx="222382" cy="222382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675120" y="13716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CrewAI</a:t>
            </a:r>
            <a:endParaRPr lang="en-US" sz="1400" dirty="0"/>
          </a:p>
        </p:txBody>
      </p:sp>
      <p:sp>
        <p:nvSpPr>
          <p:cNvPr id="42" name="Shape 37"/>
          <p:cNvSpPr/>
          <p:nvPr/>
        </p:nvSpPr>
        <p:spPr>
          <a:xfrm>
            <a:off x="7818120" y="1417320"/>
            <a:ext cx="868680" cy="228600"/>
          </a:xfrm>
          <a:prstGeom prst="rect">
            <a:avLst/>
          </a:prstGeom>
          <a:solidFill>
            <a:srgbClr val="D4883E">
              <a:alpha val="80000"/>
            </a:srgbClr>
          </a:solidFill>
          <a:ln/>
        </p:spPr>
      </p:sp>
      <p:sp>
        <p:nvSpPr>
          <p:cNvPr id="43" name="Text 38"/>
          <p:cNvSpPr/>
          <p:nvPr/>
        </p:nvSpPr>
        <p:spPr>
          <a:xfrm>
            <a:off x="7818120" y="14173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D4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</a:t>
            </a:r>
            <a:endParaRPr lang="en-US" sz="700" dirty="0"/>
          </a:p>
        </p:txBody>
      </p:sp>
      <p:sp>
        <p:nvSpPr>
          <p:cNvPr id="44" name="Text 39"/>
          <p:cNvSpPr/>
          <p:nvPr/>
        </p:nvSpPr>
        <p:spPr>
          <a:xfrm>
            <a:off x="6236208" y="1828800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3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700" dirty="0"/>
          </a:p>
        </p:txBody>
      </p:sp>
      <p:sp>
        <p:nvSpPr>
          <p:cNvPr id="45" name="Text 40"/>
          <p:cNvSpPr/>
          <p:nvPr/>
        </p:nvSpPr>
        <p:spPr>
          <a:xfrm>
            <a:off x="6236208" y="20116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Fastest prototyping &amp; easiest setup</a:t>
            </a:r>
            <a:endParaRPr lang="en-US" sz="750" dirty="0"/>
          </a:p>
        </p:txBody>
      </p:sp>
      <p:sp>
        <p:nvSpPr>
          <p:cNvPr id="46" name="Text 41"/>
          <p:cNvSpPr/>
          <p:nvPr/>
        </p:nvSpPr>
        <p:spPr>
          <a:xfrm>
            <a:off x="6236208" y="223113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Role-based metaphor intuitive for teams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6236208" y="245059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Good built-in memory &amp; caching</a:t>
            </a:r>
            <a:endParaRPr lang="en-US" sz="750" dirty="0"/>
          </a:p>
        </p:txBody>
      </p:sp>
      <p:sp>
        <p:nvSpPr>
          <p:cNvPr id="48" name="Text 43"/>
          <p:cNvSpPr/>
          <p:nvPr/>
        </p:nvSpPr>
        <p:spPr>
          <a:xfrm>
            <a:off x="6236208" y="272491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700" dirty="0"/>
          </a:p>
        </p:txBody>
      </p:sp>
      <p:sp>
        <p:nvSpPr>
          <p:cNvPr id="49" name="Text 44"/>
          <p:cNvSpPr/>
          <p:nvPr/>
        </p:nvSpPr>
        <p:spPr>
          <a:xfrm>
            <a:off x="6236208" y="290779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Limited conditional branching — sequential/hierarchical only</a:t>
            </a:r>
            <a:endParaRPr lang="en-US" sz="750" dirty="0"/>
          </a:p>
        </p:txBody>
      </p:sp>
      <p:sp>
        <p:nvSpPr>
          <p:cNvPr id="50" name="Text 45"/>
          <p:cNvSpPr/>
          <p:nvPr/>
        </p:nvSpPr>
        <p:spPr>
          <a:xfrm>
            <a:off x="6236208" y="321868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Less control over state transitions between processing steps</a:t>
            </a:r>
            <a:endParaRPr lang="en-US" sz="750" dirty="0"/>
          </a:p>
        </p:txBody>
      </p:sp>
      <p:sp>
        <p:nvSpPr>
          <p:cNvPr id="51" name="Text 46"/>
          <p:cNvSpPr/>
          <p:nvPr/>
        </p:nvSpPr>
        <p:spPr>
          <a:xfrm>
            <a:off x="6236208" y="3529584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Debugging &amp; logging difficult in complex workflows</a:t>
            </a:r>
            <a:endParaRPr lang="en-US" sz="750" dirty="0"/>
          </a:p>
        </p:txBody>
      </p:sp>
      <p:sp>
        <p:nvSpPr>
          <p:cNvPr id="52" name="Shape 47"/>
          <p:cNvSpPr/>
          <p:nvPr/>
        </p:nvSpPr>
        <p:spPr>
          <a:xfrm>
            <a:off x="548640" y="4617720"/>
            <a:ext cx="8229600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3" name="Text 48"/>
          <p:cNvSpPr/>
          <p:nvPr/>
        </p:nvSpPr>
        <p:spPr>
          <a:xfrm>
            <a:off x="54864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LangGraph's graph-based state machine gives deterministic, auditable workflows essential for financial reconciliation — checkpointing, conditional routing, and human-in-the-loop at every decision point.</a:t>
            </a:r>
            <a:endParaRPr lang="en-US" sz="850" dirty="0"/>
          </a:p>
        </p:txBody>
      </p:sp>
      <p:sp>
        <p:nvSpPr>
          <p:cNvPr id="54" name="Shape 4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D2E4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1396</Words>
  <Application>Microsoft Office PowerPoint</Application>
  <PresentationFormat>On-screen Show (16:9)</PresentationFormat>
  <Paragraphs>282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SmartPay AP - Architecture Overview</dc:title>
  <dc:subject>PptxGenJS Presentation</dc:subject>
  <dc:creator>Vikas</dc:creator>
  <cp:lastModifiedBy>Vikas Deshmane</cp:lastModifiedBy>
  <cp:revision>3</cp:revision>
  <dcterms:created xsi:type="dcterms:W3CDTF">2026-02-07T03:38:25Z</dcterms:created>
  <dcterms:modified xsi:type="dcterms:W3CDTF">2026-02-07T03:45:28Z</dcterms:modified>
</cp:coreProperties>
</file>