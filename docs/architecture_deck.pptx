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SmartPay 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Agentic AI Invoice Reconciliation Platform</a:t>
            </a:r>
            <a:br/>
            <a:r>
              <a:t>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Context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Acme Manufacturing operates in 25 countries with ~1M invoices/month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Current challenges: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Manual reconciliation causing 5-7 day payment delays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15% of invoices have discrepancies requiring investigation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Limited visibility into mismatch root causes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Target outcomes: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Automated 3-way matching (Invoice, PO, GRN)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AI-powered mismatch classification and explanation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Reduced payment cycle from 7 days to 2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Expected ROI: 40% reduction in AP processing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    │                        DATA SOURCES                                  │</a:t>
            </a:r>
          </a:p>
          <a:p>
            <a:pPr>
              <a:defRPr sz="1200">
                <a:latin typeface="Consolas"/>
              </a:defRPr>
            </a:pPr>
            <a:r>
              <a:t>    │  ┌─────────┐  ┌─────────┐  ┌─────────┐  ┌─────────┐  ┌─────────┐   │</a:t>
            </a:r>
          </a:p>
          <a:p>
            <a:pPr>
              <a:defRPr sz="1200">
                <a:latin typeface="Consolas"/>
              </a:defRPr>
            </a:pPr>
            <a:r>
              <a:t>    │  │   PDF   │  │  Email  │  │   EDI   │  │   SAP   │  │  Oracle │   │</a:t>
            </a:r>
          </a:p>
          <a:p>
            <a:pPr>
              <a:defRPr sz="1200">
                <a:latin typeface="Consolas"/>
              </a:defRPr>
            </a:pPr>
            <a:r>
              <a:t>    │  └────┬────┘  └────┬────┘  └────┬────┘  └────┬────┘  └────┬────┘   │</a:t>
            </a:r>
          </a:p>
          <a:p>
            <a:pPr>
              <a:defRPr sz="1200">
                <a:latin typeface="Consolas"/>
              </a:defRPr>
            </a:pPr>
            <a:r>
              <a:t>    └───────┼────────────┼────────────┼────────────┼────────────┼────────┘</a:t>
            </a:r>
          </a:p>
          <a:p>
            <a:pPr>
              <a:defRPr sz="1200">
                <a:latin typeface="Consolas"/>
              </a:defRPr>
            </a:pPr>
            <a:r>
              <a:t>            │            │            │            │            │</a:t>
            </a:r>
          </a:p>
          <a:p>
            <a:pPr>
              <a:defRPr sz="1200">
                <a:latin typeface="Consolas"/>
              </a:defRPr>
            </a:pPr>
            <a:r>
              <a:t>            └────────────┴────────────┼────────────┴────────────┘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                                      ▼</a:t>
            </a:r>
          </a:p>
          <a:p>
            <a:pPr>
              <a:defRPr sz="1200"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    │                     DATA PROCESSING LAYER                            │</a:t>
            </a:r>
          </a:p>
          <a:p>
            <a:pPr>
              <a:defRPr sz="1200">
                <a:latin typeface="Consolas"/>
              </a:defRPr>
            </a:pPr>
            <a:r>
              <a:t>    │  ┌─────────────────┐  ┌─────────────────┐  ┌─────────────────┐     │</a:t>
            </a:r>
          </a:p>
          <a:p>
            <a:pPr>
              <a:defRPr sz="1200">
                <a:latin typeface="Consolas"/>
              </a:defRPr>
            </a:pPr>
            <a:r>
              <a:t>    │  │ Document Extract│  │   Data Lake     │  │  Master Data    │     │</a:t>
            </a:r>
          </a:p>
          <a:p>
            <a:pPr>
              <a:defRPr sz="1200">
                <a:latin typeface="Consolas"/>
              </a:defRPr>
            </a:pPr>
            <a:r>
              <a:t>    │  │ (Textract/Form) │  │ (S3/ADLS Gen2)  │  │   Management    │     │</a:t>
            </a:r>
          </a:p>
          <a:p>
            <a:pPr>
              <a:defRPr sz="1200">
                <a:latin typeface="Consolas"/>
              </a:defRPr>
            </a:pPr>
            <a:r>
              <a:t>    │  └────────┬────────┘  └────────┬────────┘  └────────┬────────┘     │</a:t>
            </a:r>
          </a:p>
          <a:p>
            <a:pPr>
              <a:defRPr sz="1200">
                <a:latin typeface="Consolas"/>
              </a:defRPr>
            </a:pPr>
            <a:r>
              <a:t>    └───────────┼────────────────────┼────────────────────┼───────────────┘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                └────────────────────┼────────────────────┘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                                     ▼</a:t>
            </a:r>
          </a:p>
          <a:p>
            <a:pPr>
              <a:defRPr sz="1200"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    │                       ML/AI LAYER                                    │</a:t>
            </a:r>
          </a:p>
          <a:p>
            <a:pPr>
              <a:defRPr sz="1200">
                <a:latin typeface="Consolas"/>
              </a:defRPr>
            </a:pPr>
            <a:r>
              <a:t>    │  ┌─────────────────┐  ┌─────────────────┐  ┌─────────────────┐     │</a:t>
            </a:r>
          </a:p>
          <a:p>
            <a:pPr>
              <a:defRPr sz="1200">
                <a:latin typeface="Consolas"/>
              </a:defRPr>
            </a:pPr>
            <a:r>
              <a:t>    │  │ Matching Model  │  │  Classification │  │   LLM Service   │     │</a:t>
            </a:r>
          </a:p>
          <a:p>
            <a:pPr>
              <a:defRPr sz="1200">
                <a:latin typeface="Consolas"/>
              </a:defRPr>
            </a:pPr>
            <a:r>
              <a:t>    │  │ (Rule + ML)     │  │  (RandomForest) │  │ (Azure/Bedrock) │     │</a:t>
            </a:r>
          </a:p>
          <a:p>
            <a:pPr>
              <a:defRPr sz="1200">
                <a:latin typeface="Consolas"/>
              </a:defRPr>
            </a:pPr>
            <a:r>
              <a:t>    │  └────────┬────────┘  └────────┬────────┘  └────────┬────────┘     │</a:t>
            </a:r>
          </a:p>
          <a:p>
            <a:pPr>
              <a:defRPr sz="1200">
                <a:latin typeface="Consolas"/>
              </a:defRPr>
            </a:pPr>
            <a:r>
              <a:t>    └───────────┼────────────────────┼────────────────────┼───────────────┘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                └────────────────────┼────────────────────┘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                                     ▼</a:t>
            </a:r>
          </a:p>
          <a:p>
            <a:pPr>
              <a:defRPr sz="1200"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latin typeface="Consolas"/>
              </a:defRPr>
            </a:pPr>
            <a:r>
              <a:t>    │                   AGENTIC WORKFLOW (LangGraph)                       │</a:t>
            </a:r>
          </a:p>
          <a:p>
            <a:pPr>
              <a:defRPr sz="1200">
                <a:latin typeface="Consolas"/>
              </a:defRPr>
            </a:pPr>
            <a:r>
              <a:t>    │  Extract → Match → Explain → Email Draft → Human Approval → Payment │</a:t>
            </a:r>
          </a:p>
          <a:p>
            <a:pPr>
              <a:defRPr sz="1200"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200">
                <a:latin typeface="Consolas"/>
              </a:defRPr>
            </a:pPr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Multi-source data ingestion: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PDF invoices → Azure Form Recognizer / AWS Textract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Email attachments → Exchange/Gmail API connectors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EDI feeds → AS2/SFTP integration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ERP data → SAP RFC / Oracle REST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Data Lake architecture (Azure + AWS hybrid):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Raw zone: Unprocessed source files (S3 + ADLS Gen2)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Processed zone: Normalized, validated data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Curated zone: ML-ready feature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Data processing pipeline: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Apache Spark for batch processing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Delta Lake for ACID transactions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Real-time streaming via Kafka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Master data management: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Vendor master synchronization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Currency exchange rate feeds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Tax code reference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ML/AI Layer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Document extraction pipeline: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Azure Form Recognizer custom models for invoice parsing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AWS Textract for backup/multi-cloud resilience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Custom NER for vendor/product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Matching model (hybrid approach):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Rule-based: Exact matching (vendor + currency + amount ±0.1%)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Fuzzy matching: Configurable tolerance (default 5%)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ML scoring: Confidence-weighted combination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Classification model: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Algorithm: RandomForest with class balancing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Classes: EXACT_MATCH, PRICE_VARIANCE, QUANTITY_VARIANCE, TAX_MISCODE, MISSING_PO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Features: percentage_diff, abs_diff, days_between, vendor_match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Model serving: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MLflow model registry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Real-time inference via FastAPI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Batch scoring for historical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Gen-AI &amp; Agent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LangGraph orchestration framework: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State-based workflow management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Conditional routing based on match results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Built-in checkpointing for recovery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LLM integration: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Azure OpenAI (GPT-4) for explanation generation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AWS Bedrock (Claude) as fallback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Template-based responses for cost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Agent workflow nodes: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Data Extraction → Matching → Explanation → Email Draft → Human Approval → Payment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Each node has retry logic (max 3 attempts)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Comprehensive audit trail at each step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Guardrails and safety: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Input validation at every node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Rate limiting for LLM calls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Human-in-the-loop for decisions below confidence threshold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Integration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ERP connectors: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SAP: RFC/BAPI for real-time, IDoc for batch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Oracle EBS: REST APIs with OAuth2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Workday: SOAP web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API Gateway: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Kong API Gateway (multi-cloud)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Rate limiting, authentication, logging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API versioning and deprecation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Event-driven architecture: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Apache Kafka for event streaming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AWS EventBridge for serverless triggers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Dead letter queues for failed events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Webhook handlers: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Vendor portal integrations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Email service (SendGrid/SES)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Slack/Teams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Azure components: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AKS for container orchestration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Azure Data Lake Storage Gen2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Azure Form Recognizer, Azure OpenAI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AWS components: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EKS for container orchestration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S3 for object storage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Textract, Bedrock, SageMaker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Kubernetes orchestration: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Istio service mesh for traffic management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Cross-cluster service discovery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Unified ingress via Traefik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Common MLOps layer: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MLflow for experiment tracking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Kubeflow Pipelines for training workflows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Seldon Core for model serving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GDPR compliance: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Data minimization - only essential invoice fields retained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Right to erasure - automated data deletion workflows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Data residency - regional deployment per jurisdiction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Data encryption: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At rest: AES-256 encryption (Azure/AWS KMS)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In transit: TLS 1.3 for all API communications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Field-level encryption for PII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Access control: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RBAC with Azure AD / AWS IAM integration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OAuth2 + OIDC for API authentication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Service mesh mTLS between microservices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Audit and monitoring: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Comprehensive audit logging (CloudTrail/Azure Monitor)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SIEM integration for security events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Automated compliance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MLOps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CI/CD pipelines: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GitHub Actions for code CI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ArgoCD for GitOps deployments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Automated testing (unit, integration, model validation)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Model lifecycle: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A/B testing for model versions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Shadow mode for new models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Automatic rollback on performance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Monitoring stack: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Prometheus for metrics collection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Grafana dashboards for visualization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Model drift detection (Evidently AI)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Alerting: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PagerDuty for on-call escalation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Slack integration for notifications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SLA-based alert routing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Cost Estimation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Monthly cloud costs (1M invoices/month):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Compute (AKS/EKS): ~$8,000/month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Storage (S3/ADLS): ~$2,000/month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ML/AI services: ~$5,000/month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Data processing: ~$3,000/month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Total: ~$18,000/month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Cost per invoice: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Current cost per invoice: $0.018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Target with optimization: $0.012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Optimization strategies: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Spot/preemptible instances for batch workloads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Reserved capacity for predictable workloads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Tiered storage for historical data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LLM call caching and batching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ROI calculation: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Current manual AP cost: ~$5 per invoice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Automated cost: ~$0.50 per invoice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Annual savings: ~$4.5M for 1M invoices/month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MVP (Current POC):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Core matching model with RandomForest classification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LangGraph workflow with human-in-loop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Basic evaluation and reporting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Phase 2 (Q2):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Document extraction pipeline integration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SAP/Oracle connector implementation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Production deployment on AKS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Phase 3 (Q3-Q4):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Multi-region deployment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Advanced anomaly detection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Vendor self-service portal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• Scale considerations: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Horizontal scaling to 10M invoices/month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Multi-tenant architecture</a:t>
            </a:r>
          </a:p>
          <a:p>
            <a:pPr>
              <a:spcBef>
                <a:spcPts val="200"/>
              </a:spcBef>
              <a:defRPr sz="1400">
                <a:solidFill>
                  <a:srgbClr val="505050"/>
                </a:solidFill>
              </a:defRPr>
            </a:pPr>
            <a:r>
              <a:t>    – Real-time processing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